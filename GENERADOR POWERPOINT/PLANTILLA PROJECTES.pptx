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/>
      <a:tcStyle>
        <a:tcBdr/>
        <a:fill>
          <a:solidFill>
            <a:srgbClr val="FCE9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7"/>
    <p:restoredTop sz="94680"/>
  </p:normalViewPr>
  <p:slideViewPr>
    <p:cSldViewPr snapToGrid="0">
      <p:cViewPr>
        <p:scale>
          <a:sx n="60" d="100"/>
          <a:sy n="60" d="100"/>
        </p:scale>
        <p:origin x="32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_AND_BOD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713" y="8511571"/>
            <a:ext cx="6782573" cy="67825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Picture 10" descr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76756" y="12936284"/>
            <a:ext cx="3030489" cy="2118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75FB613-BC62-0519-049C-83D952C0CF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95" y="567846"/>
            <a:ext cx="3593010" cy="73702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_AND_BOD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808" y="-1241031"/>
            <a:ext cx="4520384" cy="45203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6756" y="12936284"/>
            <a:ext cx="3030489" cy="2118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75FB613-BC62-0519-049C-83D952C0CF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95" y="12666442"/>
            <a:ext cx="3593010" cy="73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454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8B43E8B-7B22-0B1D-02A6-23B48A0A9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95" y="12666442"/>
            <a:ext cx="3593010" cy="73702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21;p3"/>
          <p:cNvSpPr/>
          <p:nvPr/>
        </p:nvSpPr>
        <p:spPr>
          <a:xfrm flipH="1">
            <a:off x="23601869" y="1390345"/>
            <a:ext cx="2" cy="10935309"/>
          </a:xfrm>
          <a:prstGeom prst="line">
            <a:avLst/>
          </a:prstGeom>
          <a:ln>
            <a:solidFill>
              <a:srgbClr val="000000">
                <a:alpha val="15294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" name="Google Shape;22;p3"/>
          <p:cNvSpPr/>
          <p:nvPr/>
        </p:nvSpPr>
        <p:spPr>
          <a:xfrm>
            <a:off x="-397935" y="12318206"/>
            <a:ext cx="24767076" cy="2"/>
          </a:xfrm>
          <a:prstGeom prst="line">
            <a:avLst/>
          </a:prstGeom>
          <a:ln>
            <a:solidFill>
              <a:srgbClr val="000000">
                <a:alpha val="14901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" name="Google Shape;23;p3"/>
          <p:cNvSpPr/>
          <p:nvPr/>
        </p:nvSpPr>
        <p:spPr>
          <a:xfrm flipH="1">
            <a:off x="758803" y="1390345"/>
            <a:ext cx="2" cy="10935309"/>
          </a:xfrm>
          <a:prstGeom prst="line">
            <a:avLst/>
          </a:prstGeom>
          <a:ln>
            <a:solidFill>
              <a:srgbClr val="000000">
                <a:alpha val="15294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" name="Google Shape;24;p3"/>
          <p:cNvSpPr/>
          <p:nvPr/>
        </p:nvSpPr>
        <p:spPr>
          <a:xfrm>
            <a:off x="-397935" y="1387739"/>
            <a:ext cx="24767076" cy="2"/>
          </a:xfrm>
          <a:prstGeom prst="line">
            <a:avLst/>
          </a:prstGeom>
          <a:ln>
            <a:solidFill>
              <a:srgbClr val="000000">
                <a:alpha val="14901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37" name="Google Shape;68;p8"/>
          <p:cNvGraphicFramePr/>
          <p:nvPr/>
        </p:nvGraphicFramePr>
        <p:xfrm>
          <a:off x="12192000" y="7776094"/>
          <a:ext cx="10489315" cy="393408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90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1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740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9525" marR="9525" marT="9525" marB="9525" anchor="ctr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9525" marR="9525" marT="9525" marB="9525" anchor="ctr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9525" marR="9525" marT="9525" marB="9525" anchor="ctr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9525" marR="9525" marT="9525" marB="9525" anchor="ctr" horzOverflow="overflow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9525" marR="9525" marT="9525" marB="9525" anchor="ctr" horzOverflow="overflow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9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54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5E5E5E"/>
                          </a:solidFill>
                        </a:rPr>
                        <a:t>2</a:t>
                      </a:r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89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93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5E5E5E"/>
                          </a:solidFill>
                        </a:rPr>
                        <a:t>5</a:t>
                      </a:r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1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5E5E5E"/>
                          </a:solidFill>
                        </a:rPr>
                        <a:t>6</a:t>
                      </a:r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12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5E5E5E"/>
                          </a:solidFill>
                        </a:rPr>
                        <a:t>7</a:t>
                      </a:r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55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olidFill>
                            <a:srgbClr val="5E5E5E"/>
                          </a:solidFill>
                        </a:rPr>
                        <a:t>8</a:t>
                      </a:r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9525" marR="9525" marT="9525" marB="9525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Google Shape;40;p6"/>
          <p:cNvSpPr txBox="1"/>
          <p:nvPr/>
        </p:nvSpPr>
        <p:spPr>
          <a:xfrm>
            <a:off x="1226567" y="2005818"/>
            <a:ext cx="1096543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4400" b="1">
                <a:latin typeface="UICTFontTextStyleEmphasizedBody"/>
                <a:ea typeface="UICTFontTextStyleEmphasizedBody"/>
                <a:cs typeface="UICTFontTextStyleEmphasizedBody"/>
                <a:sym typeface="UICTFontTextStyleEmphasizedBody"/>
              </a:defRPr>
            </a:lvl1pPr>
          </a:lstStyle>
          <a:p>
            <a:r>
              <a:t>TÍTOL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1575A30-5BBB-2FD2-E898-2E81A754A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95" y="12666442"/>
            <a:ext cx="3593010" cy="73702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ank you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6;p4"/>
          <p:cNvSpPr txBox="1"/>
          <p:nvPr/>
        </p:nvSpPr>
        <p:spPr>
          <a:xfrm>
            <a:off x="690116" y="13007487"/>
            <a:ext cx="1058169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200">
                <a:latin typeface="Salsa"/>
                <a:ea typeface="Salsa"/>
                <a:cs typeface="Salsa"/>
                <a:sym typeface="Salsa"/>
              </a:defRPr>
            </a:lvl1pPr>
          </a:lstStyle>
          <a:p>
            <a:r>
              <a:t>Section Name</a:t>
            </a: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17450A4-2795-E9EB-350B-C536CEFCAB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95" y="12666442"/>
            <a:ext cx="3593010" cy="73702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hank you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30;p5"/>
          <p:cNvSpPr txBox="1"/>
          <p:nvPr/>
        </p:nvSpPr>
        <p:spPr>
          <a:xfrm>
            <a:off x="690116" y="13007487"/>
            <a:ext cx="1058169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200">
                <a:latin typeface="Salsa"/>
                <a:ea typeface="Salsa"/>
                <a:cs typeface="Salsa"/>
                <a:sym typeface="Salsa"/>
              </a:defRPr>
            </a:lvl1pPr>
          </a:lstStyle>
          <a:p>
            <a:r>
              <a:t>Section Name</a:t>
            </a:r>
          </a:p>
        </p:txBody>
      </p:sp>
      <p:sp>
        <p:nvSpPr>
          <p:cNvPr id="56" name="Google Shape;32;p5"/>
          <p:cNvSpPr/>
          <p:nvPr/>
        </p:nvSpPr>
        <p:spPr>
          <a:xfrm flipH="1">
            <a:off x="23601869" y="1390345"/>
            <a:ext cx="2" cy="10935309"/>
          </a:xfrm>
          <a:prstGeom prst="line">
            <a:avLst/>
          </a:prstGeom>
          <a:ln>
            <a:solidFill>
              <a:srgbClr val="FFFFFF">
                <a:alpha val="24705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" name="Google Shape;33;p5"/>
          <p:cNvSpPr/>
          <p:nvPr/>
        </p:nvSpPr>
        <p:spPr>
          <a:xfrm>
            <a:off x="-397935" y="12318206"/>
            <a:ext cx="24767076" cy="2"/>
          </a:xfrm>
          <a:prstGeom prst="line">
            <a:avLst/>
          </a:prstGeom>
          <a:ln>
            <a:solidFill>
              <a:srgbClr val="FFFFFF">
                <a:alpha val="24705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" name="Google Shape;34;p5"/>
          <p:cNvSpPr/>
          <p:nvPr/>
        </p:nvSpPr>
        <p:spPr>
          <a:xfrm flipH="1">
            <a:off x="758803" y="1390345"/>
            <a:ext cx="2" cy="10935309"/>
          </a:xfrm>
          <a:prstGeom prst="line">
            <a:avLst/>
          </a:prstGeom>
          <a:ln>
            <a:solidFill>
              <a:srgbClr val="FFFFFF">
                <a:alpha val="24705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Google Shape;35;p5"/>
          <p:cNvSpPr/>
          <p:nvPr/>
        </p:nvSpPr>
        <p:spPr>
          <a:xfrm>
            <a:off x="-397935" y="1387739"/>
            <a:ext cx="24767076" cy="2"/>
          </a:xfrm>
          <a:prstGeom prst="line">
            <a:avLst/>
          </a:prstGeom>
          <a:ln>
            <a:solidFill>
              <a:srgbClr val="FFFFFF">
                <a:alpha val="24705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DD77B03-45AD-AC5B-4FDC-E8F437CDE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95" y="12666442"/>
            <a:ext cx="3593010" cy="73702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3"/>
          <p:cNvSpPr/>
          <p:nvPr/>
        </p:nvSpPr>
        <p:spPr>
          <a:xfrm flipH="1">
            <a:off x="23601871" y="1390345"/>
            <a:ext cx="0" cy="12325655"/>
          </a:xfrm>
          <a:prstGeom prst="line">
            <a:avLst/>
          </a:prstGeom>
          <a:ln>
            <a:solidFill>
              <a:srgbClr val="000000">
                <a:alpha val="15294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Google Shape;22;p3"/>
          <p:cNvSpPr/>
          <p:nvPr/>
        </p:nvSpPr>
        <p:spPr>
          <a:xfrm>
            <a:off x="-1" y="12318208"/>
            <a:ext cx="23601872" cy="0"/>
          </a:xfrm>
          <a:prstGeom prst="line">
            <a:avLst/>
          </a:prstGeom>
          <a:ln>
            <a:solidFill>
              <a:srgbClr val="000000">
                <a:alpha val="14901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Google Shape;23;p3"/>
          <p:cNvSpPr/>
          <p:nvPr/>
        </p:nvSpPr>
        <p:spPr>
          <a:xfrm flipH="1">
            <a:off x="758803" y="1"/>
            <a:ext cx="0" cy="12325654"/>
          </a:xfrm>
          <a:prstGeom prst="line">
            <a:avLst/>
          </a:prstGeom>
          <a:ln>
            <a:solidFill>
              <a:srgbClr val="000000">
                <a:alpha val="15294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" name="Google Shape;24;p3"/>
          <p:cNvSpPr/>
          <p:nvPr/>
        </p:nvSpPr>
        <p:spPr>
          <a:xfrm>
            <a:off x="782129" y="1387741"/>
            <a:ext cx="23587011" cy="0"/>
          </a:xfrm>
          <a:prstGeom prst="line">
            <a:avLst/>
          </a:prstGeom>
          <a:ln>
            <a:solidFill>
              <a:srgbClr val="000000">
                <a:alpha val="14901"/>
              </a:srgbClr>
            </a:solidFill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" name="Picture 15" descr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6756" y="12936284"/>
            <a:ext cx="3030489" cy="21187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0" r:id="rId3"/>
    <p:sldLayoutId id="2147483651" r:id="rId4"/>
    <p:sldLayoutId id="2147483652" r:id="rId5"/>
    <p:sldLayoutId id="2147483653" r:id="rId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40;p6"/>
          <p:cNvSpPr txBox="1"/>
          <p:nvPr/>
        </p:nvSpPr>
        <p:spPr>
          <a:xfrm>
            <a:off x="5851075" y="6557232"/>
            <a:ext cx="12681850" cy="1227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b">
            <a:sp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dirty="0"/>
              <a:t>INFLUÈNCIA DE LA POSICIÓ DEL PILOT EN EL CM DE LA MOTO</a:t>
            </a:r>
          </a:p>
        </p:txBody>
      </p:sp>
      <p:sp>
        <p:nvSpPr>
          <p:cNvPr id="71" name="Google Shape;41;p6"/>
          <p:cNvSpPr txBox="1"/>
          <p:nvPr/>
        </p:nvSpPr>
        <p:spPr>
          <a:xfrm>
            <a:off x="20638633" y="1130514"/>
            <a:ext cx="274274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 algn="r"/>
            <a:r>
              <a:rPr i="1" dirty="0"/>
              <a:t>17.11.2025</a:t>
            </a:r>
          </a:p>
        </p:txBody>
      </p:sp>
      <p:sp>
        <p:nvSpPr>
          <p:cNvPr id="72" name="Google Shape;40;p6"/>
          <p:cNvSpPr txBox="1"/>
          <p:nvPr/>
        </p:nvSpPr>
        <p:spPr>
          <a:xfrm>
            <a:off x="1002627" y="771441"/>
            <a:ext cx="7011536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ctr">
              <a:defRPr sz="3200">
                <a:solidFill>
                  <a:srgbClr val="808080"/>
                </a:solidFill>
              </a:defRPr>
            </a:lvl1pPr>
          </a:lstStyle>
          <a:p>
            <a:pPr algn="l"/>
            <a:r>
              <a:rPr dirty="0" err="1"/>
              <a:t>Departament</a:t>
            </a:r>
            <a:r>
              <a:rPr dirty="0"/>
              <a:t> </a:t>
            </a:r>
            <a:r>
              <a:rPr dirty="0" err="1"/>
              <a:t>Mecànic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B43CF-BE83-5145-FF21-912E1D4F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40;p6">
            <a:extLst>
              <a:ext uri="{FF2B5EF4-FFF2-40B4-BE49-F238E27FC236}">
                <a16:creationId xmlns:a16="http://schemas.microsoft.com/office/drawing/2014/main" id="{2C178F48-85B8-BD3B-F6EA-023D6E0B4AA8}"/>
              </a:ext>
            </a:extLst>
          </p:cNvPr>
          <p:cNvSpPr txBox="1"/>
          <p:nvPr/>
        </p:nvSpPr>
        <p:spPr>
          <a:xfrm>
            <a:off x="5851075" y="6858000"/>
            <a:ext cx="12681850" cy="1227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b">
            <a:sp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dirty="0"/>
              <a:t>INFLUÈNCIA DE LA POSICIÓ DEL PILOT EN EL CM DE LA MOTO</a:t>
            </a:r>
          </a:p>
        </p:txBody>
      </p:sp>
      <p:sp>
        <p:nvSpPr>
          <p:cNvPr id="71" name="Google Shape;41;p6">
            <a:extLst>
              <a:ext uri="{FF2B5EF4-FFF2-40B4-BE49-F238E27FC236}">
                <a16:creationId xmlns:a16="http://schemas.microsoft.com/office/drawing/2014/main" id="{A602A1E2-DF9F-C364-2DCC-02D0C0BC0CA5}"/>
              </a:ext>
            </a:extLst>
          </p:cNvPr>
          <p:cNvSpPr txBox="1"/>
          <p:nvPr/>
        </p:nvSpPr>
        <p:spPr>
          <a:xfrm>
            <a:off x="20638633" y="894552"/>
            <a:ext cx="274274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 algn="r"/>
            <a:r>
              <a:rPr i="1" dirty="0"/>
              <a:t>17.11.2025</a:t>
            </a:r>
          </a:p>
        </p:txBody>
      </p:sp>
      <p:sp>
        <p:nvSpPr>
          <p:cNvPr id="72" name="Google Shape;40;p6">
            <a:extLst>
              <a:ext uri="{FF2B5EF4-FFF2-40B4-BE49-F238E27FC236}">
                <a16:creationId xmlns:a16="http://schemas.microsoft.com/office/drawing/2014/main" id="{96497204-FAD5-30CC-3B43-208FE820500D}"/>
              </a:ext>
            </a:extLst>
          </p:cNvPr>
          <p:cNvSpPr txBox="1"/>
          <p:nvPr/>
        </p:nvSpPr>
        <p:spPr>
          <a:xfrm>
            <a:off x="1002627" y="771441"/>
            <a:ext cx="7011536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ctr">
              <a:defRPr sz="3200">
                <a:solidFill>
                  <a:srgbClr val="808080"/>
                </a:solidFill>
              </a:defRPr>
            </a:lvl1pPr>
          </a:lstStyle>
          <a:p>
            <a:pPr algn="l"/>
            <a:r>
              <a:rPr dirty="0" err="1"/>
              <a:t>Departament</a:t>
            </a:r>
            <a:r>
              <a:rPr dirty="0"/>
              <a:t> </a:t>
            </a:r>
            <a:r>
              <a:rPr dirty="0" err="1"/>
              <a:t>Mecànic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184420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46;p7"/>
          <p:cNvSpPr txBox="1"/>
          <p:nvPr/>
        </p:nvSpPr>
        <p:spPr>
          <a:xfrm>
            <a:off x="2087098" y="4437090"/>
            <a:ext cx="10223146" cy="7508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just">
              <a:spcBef>
                <a:spcPts val="1200"/>
              </a:spcBef>
              <a:defRPr sz="2400" b="1">
                <a:solidFill>
                  <a:srgbClr val="5E5E5E"/>
                </a:solidFill>
              </a:defRPr>
            </a:pPr>
            <a:r>
              <a:t>Objectiu:</a:t>
            </a:r>
          </a:p>
          <a:p>
            <a:pPr marL="342900" indent="-342900" algn="just">
              <a:spcBef>
                <a:spcPts val="12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5E5E5E"/>
                </a:solidFill>
              </a:defRPr>
            </a:pPr>
            <a:r>
              <a:t>Determinar el centre de masses total (bt, ht), el de la moto (b, h) i el del pilot (bp, hp) en diferents posicions: acoplament, frenada, acceleració màxima i pas per corba.</a:t>
            </a:r>
          </a:p>
          <a:p>
            <a:pPr marL="342900" indent="-342900" algn="just">
              <a:spcBef>
                <a:spcPts val="12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5E5E5E"/>
                </a:solidFill>
              </a:defRPr>
            </a:pPr>
            <a:r>
              <a:t>Analitzar totes les dades tant numèricament com gràficament.</a:t>
            </a:r>
          </a:p>
          <a:p>
            <a:pPr marL="342900" indent="-342900" algn="just">
              <a:spcBef>
                <a:spcPts val="12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5E5E5E"/>
                </a:solidFill>
              </a:defRPr>
            </a:pPr>
            <a:r>
              <a:t>Ajustar el model 3D d’un Dummy a partir de les fotos en les posicions d’acoplament i de frenada.</a:t>
            </a:r>
          </a:p>
          <a:p>
            <a:pPr algn="just">
              <a:spcBef>
                <a:spcPts val="1200"/>
              </a:spcBef>
              <a:defRPr sz="2400">
                <a:solidFill>
                  <a:srgbClr val="5E5E5E"/>
                </a:solidFill>
              </a:defRPr>
            </a:pPr>
            <a:endParaRPr/>
          </a:p>
          <a:p>
            <a:pPr algn="just">
              <a:spcBef>
                <a:spcPts val="1200"/>
              </a:spcBef>
              <a:defRPr sz="2400" b="1">
                <a:solidFill>
                  <a:srgbClr val="5E5E5E"/>
                </a:solidFill>
              </a:defRPr>
            </a:pPr>
            <a:r>
              <a:t>Com:</a:t>
            </a:r>
          </a:p>
          <a:p>
            <a:pPr marL="342900" indent="-342900">
              <a:spcBef>
                <a:spcPts val="12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5E5E5E"/>
                </a:solidFill>
              </a:defRPr>
            </a:pPr>
            <a:r>
              <a:t>A partir de la E5, mesurar amb precisió el CM actual de la moto (b, h).</a:t>
            </a:r>
          </a:p>
          <a:p>
            <a:pPr marL="342900" indent="-342900">
              <a:spcBef>
                <a:spcPts val="12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5E5E5E"/>
                </a:solidFill>
              </a:defRPr>
            </a:pPr>
            <a:r>
              <a:t>Utilitzar un “pilot” de 85 kg i mesurar el CM (bp, hp) en totes les posicions: acoplament, frenada, acceleració màxima i pas per corba (sense despenjar-se).</a:t>
            </a:r>
          </a:p>
          <a:p>
            <a:pPr marL="342900" indent="-342900">
              <a:spcBef>
                <a:spcPts val="12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5E5E5E"/>
                </a:solidFill>
              </a:defRPr>
            </a:pPr>
            <a:r>
              <a:t>Fer 	fotos 100% ortogonals de totes les mesures, i en el pas x corba també fer una foto ortogonal des de darrere despenjant-se.</a:t>
            </a:r>
          </a:p>
          <a:p>
            <a:pPr marL="342900" indent="-342900">
              <a:spcBef>
                <a:spcPts val="12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5E5E5E"/>
                </a:solidFill>
              </a:defRPr>
            </a:pPr>
            <a:r>
              <a:t>Processar i analitzar les dades obtingudes per extreure els diferents CM.</a:t>
            </a:r>
          </a:p>
        </p:txBody>
      </p:sp>
      <p:pic>
        <p:nvPicPr>
          <p:cNvPr id="76" name="Picture 6" descr="Picture 6"/>
          <p:cNvPicPr>
            <a:picLocks noChangeAspect="1"/>
          </p:cNvPicPr>
          <p:nvPr/>
        </p:nvPicPr>
        <p:blipFill>
          <a:blip r:embed="rId2"/>
          <a:srcRect l="3511" r="34117"/>
          <a:stretch>
            <a:fillRect/>
          </a:stretch>
        </p:blipFill>
        <p:spPr>
          <a:xfrm>
            <a:off x="13405102" y="1404410"/>
            <a:ext cx="10223146" cy="10926928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Google Shape;40;p6"/>
          <p:cNvSpPr txBox="1"/>
          <p:nvPr/>
        </p:nvSpPr>
        <p:spPr>
          <a:xfrm>
            <a:off x="1226567" y="2005818"/>
            <a:ext cx="10965434" cy="212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4400" b="1">
                <a:latin typeface="UICTFontTextStyleEmphasizedBody"/>
                <a:ea typeface="UICTFontTextStyleEmphasizedBody"/>
                <a:cs typeface="UICTFontTextStyleEmphasizedBody"/>
                <a:sym typeface="UICTFontTextStyleEmphasizedBody"/>
              </a:defRPr>
            </a:lvl1pPr>
          </a:lstStyle>
          <a:p>
            <a:r>
              <a:rPr dirty="0"/>
              <a:t>ESTUDI SOBRE LA INFLUÈNCIA QUE TÉ LA POSICIÓ DEL PILOT SOBRE EL CM DE LA MOTO.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37;p13"/>
          <p:cNvSpPr txBox="1"/>
          <p:nvPr/>
        </p:nvSpPr>
        <p:spPr>
          <a:xfrm>
            <a:off x="2842575" y="3894817"/>
            <a:ext cx="20025240" cy="2550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rgbClr val="000000"/>
              </a:buClr>
              <a:buSzPts val="2400"/>
              <a:buFont typeface="Helvetica"/>
              <a:buChar char="✔"/>
              <a:defRPr sz="2400">
                <a:solidFill>
                  <a:srgbClr val="5E5E5E"/>
                </a:solidFill>
              </a:defRPr>
            </a:pPr>
            <a:r>
              <a:t>1</a:t>
            </a:r>
          </a:p>
          <a:p>
            <a:pPr marL="457200" indent="-457200" algn="just">
              <a:lnSpc>
                <a:spcPct val="200000"/>
              </a:lnSpc>
              <a:buClr>
                <a:srgbClr val="000000"/>
              </a:buClr>
              <a:buSzPts val="2400"/>
              <a:buFont typeface="Helvetica"/>
              <a:buChar char="✔"/>
              <a:defRPr sz="2400">
                <a:solidFill>
                  <a:srgbClr val="5E5E5E"/>
                </a:solidFill>
              </a:defRPr>
            </a:pPr>
            <a:r>
              <a:t>2</a:t>
            </a:r>
          </a:p>
          <a:p>
            <a:pPr marL="457200" indent="-457200" algn="just">
              <a:lnSpc>
                <a:spcPct val="200000"/>
              </a:lnSpc>
              <a:buClr>
                <a:srgbClr val="000000"/>
              </a:buClr>
              <a:buSzPts val="2400"/>
              <a:buFont typeface="Helvetica"/>
              <a:buChar char="✔"/>
              <a:defRPr sz="2400">
                <a:solidFill>
                  <a:srgbClr val="5E5E5E"/>
                </a:solidFill>
              </a:defRPr>
            </a:pPr>
            <a:r>
              <a:t>3</a:t>
            </a:r>
          </a:p>
        </p:txBody>
      </p:sp>
      <p:sp>
        <p:nvSpPr>
          <p:cNvPr id="80" name="Google Shape;40;p6"/>
          <p:cNvSpPr txBox="1"/>
          <p:nvPr/>
        </p:nvSpPr>
        <p:spPr>
          <a:xfrm>
            <a:off x="1226567" y="2005818"/>
            <a:ext cx="1096543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4400" b="1">
                <a:latin typeface="UICTFontTextStyleEmphasizedBody"/>
                <a:ea typeface="UICTFontTextStyleEmphasizedBody"/>
                <a:cs typeface="UICTFontTextStyleEmphasizedBody"/>
                <a:sym typeface="UICTFontTextStyleEmphasizedBody"/>
              </a:defRPr>
            </a:lvl1pPr>
          </a:lstStyle>
          <a:p>
            <a:r>
              <a:rPr dirty="0"/>
              <a:t>CONCLUSIONS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52;p16"/>
          <p:cNvSpPr txBox="1"/>
          <p:nvPr/>
        </p:nvSpPr>
        <p:spPr>
          <a:xfrm>
            <a:off x="9886105" y="9764026"/>
            <a:ext cx="4611789" cy="656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t>GRÀCIES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223</Words>
  <Application>Microsoft Macintosh PowerPoint</Application>
  <PresentationFormat>Custom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Helvetica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Nurka Gali</cp:lastModifiedBy>
  <cp:revision>4</cp:revision>
  <dcterms:modified xsi:type="dcterms:W3CDTF">2025-11-18T14:53:44Z</dcterms:modified>
</cp:coreProperties>
</file>